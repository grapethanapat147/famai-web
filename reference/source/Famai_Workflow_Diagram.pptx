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4231600" cy="15727363"/>
  <p:notesSz cx="15727363" cy="24231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16" d="100"/>
          <a:sy n="116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73">
            <a:extLst>
              <a:ext uri="{FF2B5EF4-FFF2-40B4-BE49-F238E27FC236}">
                <a16:creationId xmlns:a16="http://schemas.microsoft.com/office/drawing/2014/main" id="{7785EB03-D60C-1845-CEF8-6361FF7FA173}"/>
              </a:ext>
            </a:extLst>
          </p:cNvPr>
          <p:cNvSpPr/>
          <p:nvPr/>
        </p:nvSpPr>
        <p:spPr>
          <a:xfrm>
            <a:off x="20625300" y="731521"/>
            <a:ext cx="2978732" cy="14769205"/>
          </a:xfrm>
          <a:prstGeom prst="roundRect">
            <a:avLst>
              <a:gd name="adj" fmla="val 5455"/>
            </a:avLst>
          </a:prstGeom>
          <a:solidFill>
            <a:srgbClr val="FDFDFE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7" name="Shape 73">
            <a:extLst>
              <a:ext uri="{FF2B5EF4-FFF2-40B4-BE49-F238E27FC236}">
                <a16:creationId xmlns:a16="http://schemas.microsoft.com/office/drawing/2014/main" id="{DDED77AA-8971-2301-7560-14ABEAE1D72F}"/>
              </a:ext>
            </a:extLst>
          </p:cNvPr>
          <p:cNvSpPr/>
          <p:nvPr/>
        </p:nvSpPr>
        <p:spPr>
          <a:xfrm>
            <a:off x="17228302" y="870334"/>
            <a:ext cx="3285105" cy="8749806"/>
          </a:xfrm>
          <a:prstGeom prst="roundRect">
            <a:avLst>
              <a:gd name="adj" fmla="val 5455"/>
            </a:avLst>
          </a:prstGeom>
          <a:solidFill>
            <a:srgbClr val="FDFDFE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1" name="Shape 32">
            <a:extLst>
              <a:ext uri="{FF2B5EF4-FFF2-40B4-BE49-F238E27FC236}">
                <a16:creationId xmlns:a16="http://schemas.microsoft.com/office/drawing/2014/main" id="{0362D39C-5338-5B3D-434D-CEAD6A3E5F6A}"/>
              </a:ext>
            </a:extLst>
          </p:cNvPr>
          <p:cNvSpPr/>
          <p:nvPr/>
        </p:nvSpPr>
        <p:spPr>
          <a:xfrm>
            <a:off x="6929876" y="9711581"/>
            <a:ext cx="12089644" cy="33171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5" name="Shape 78">
            <a:extLst>
              <a:ext uri="{FF2B5EF4-FFF2-40B4-BE49-F238E27FC236}">
                <a16:creationId xmlns:a16="http://schemas.microsoft.com/office/drawing/2014/main" id="{ADC20DE7-1BE8-4CD6-AAB1-D1590AA22240}"/>
              </a:ext>
            </a:extLst>
          </p:cNvPr>
          <p:cNvSpPr/>
          <p:nvPr/>
        </p:nvSpPr>
        <p:spPr>
          <a:xfrm>
            <a:off x="7151114" y="10163048"/>
            <a:ext cx="949960" cy="37439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0" name="Shape 44">
            <a:extLst>
              <a:ext uri="{FF2B5EF4-FFF2-40B4-BE49-F238E27FC236}">
                <a16:creationId xmlns:a16="http://schemas.microsoft.com/office/drawing/2014/main" id="{D829F2B2-C283-F464-C2DD-6B08D1257A93}"/>
              </a:ext>
            </a:extLst>
          </p:cNvPr>
          <p:cNvSpPr/>
          <p:nvPr/>
        </p:nvSpPr>
        <p:spPr>
          <a:xfrm>
            <a:off x="10319002" y="1927098"/>
            <a:ext cx="551189" cy="22174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1" name="Shape 44">
            <a:extLst>
              <a:ext uri="{FF2B5EF4-FFF2-40B4-BE49-F238E27FC236}">
                <a16:creationId xmlns:a16="http://schemas.microsoft.com/office/drawing/2014/main" id="{32BDBBA7-794B-3AB5-8448-A9826AB80763}"/>
              </a:ext>
            </a:extLst>
          </p:cNvPr>
          <p:cNvSpPr/>
          <p:nvPr/>
        </p:nvSpPr>
        <p:spPr>
          <a:xfrm>
            <a:off x="10350744" y="2698614"/>
            <a:ext cx="551189" cy="22174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9" name="Shape 36">
            <a:extLst>
              <a:ext uri="{FF2B5EF4-FFF2-40B4-BE49-F238E27FC236}">
                <a16:creationId xmlns:a16="http://schemas.microsoft.com/office/drawing/2014/main" id="{03294FFC-D03E-F9F2-5F31-C1DAF3C95C46}"/>
              </a:ext>
            </a:extLst>
          </p:cNvPr>
          <p:cNvSpPr/>
          <p:nvPr/>
        </p:nvSpPr>
        <p:spPr>
          <a:xfrm>
            <a:off x="7820402" y="5176976"/>
            <a:ext cx="2187695" cy="2816309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8" name="Shape 36">
            <a:extLst>
              <a:ext uri="{FF2B5EF4-FFF2-40B4-BE49-F238E27FC236}">
                <a16:creationId xmlns:a16="http://schemas.microsoft.com/office/drawing/2014/main" id="{D2FC2E9B-21CB-1E1B-0301-0482A1AAE961}"/>
              </a:ext>
            </a:extLst>
          </p:cNvPr>
          <p:cNvSpPr/>
          <p:nvPr/>
        </p:nvSpPr>
        <p:spPr>
          <a:xfrm>
            <a:off x="7530083" y="996697"/>
            <a:ext cx="2112264" cy="1792189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2" name="Shape 32">
            <a:extLst>
              <a:ext uri="{FF2B5EF4-FFF2-40B4-BE49-F238E27FC236}">
                <a16:creationId xmlns:a16="http://schemas.microsoft.com/office/drawing/2014/main" id="{48AE2D7A-8606-D53F-5B8A-C0249D06A0A1}"/>
              </a:ext>
            </a:extLst>
          </p:cNvPr>
          <p:cNvSpPr/>
          <p:nvPr/>
        </p:nvSpPr>
        <p:spPr>
          <a:xfrm>
            <a:off x="228599" y="5144236"/>
            <a:ext cx="5424939" cy="576956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" name="Text 0"/>
          <p:cNvSpPr/>
          <p:nvPr/>
        </p:nvSpPr>
        <p:spPr>
          <a:xfrm>
            <a:off x="182880" y="137160"/>
            <a:ext cx="1828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Famai Motor Group — </a:t>
            </a:r>
            <a:r>
              <a:rPr lang="en-US" sz="2000" b="1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แผนผังกระบวนการทำงาน</a:t>
            </a:r>
            <a:r>
              <a:rPr lang="en-US" sz="20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" y="640080"/>
            <a:ext cx="23408640" cy="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1289304" y="1719071"/>
            <a:ext cx="237744" cy="539497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2103120" y="2468880"/>
            <a:ext cx="457200" cy="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497580" y="2468880"/>
            <a:ext cx="580644" cy="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910326" y="2475738"/>
            <a:ext cx="589787" cy="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 flipV="1">
            <a:off x="6812280" y="1463040"/>
            <a:ext cx="731520" cy="91440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 flipV="1">
            <a:off x="6812280" y="1920244"/>
            <a:ext cx="777240" cy="530348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4919470" y="2475738"/>
            <a:ext cx="1069850" cy="3696462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9642346" y="1691639"/>
            <a:ext cx="507493" cy="1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11247120" y="1691640"/>
            <a:ext cx="914400" cy="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13898880" y="1691640"/>
            <a:ext cx="1005840" cy="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 flipV="1">
            <a:off x="7178040" y="5715000"/>
            <a:ext cx="777240" cy="365759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7200900" y="6172200"/>
            <a:ext cx="731520" cy="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 dirty="0"/>
          </a:p>
        </p:txBody>
      </p:sp>
      <p:sp>
        <p:nvSpPr>
          <p:cNvPr id="20" name="Shape 18"/>
          <p:cNvSpPr/>
          <p:nvPr/>
        </p:nvSpPr>
        <p:spPr>
          <a:xfrm>
            <a:off x="7139178" y="6254498"/>
            <a:ext cx="731520" cy="36576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7164323" y="6355080"/>
            <a:ext cx="731520" cy="73152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7114033" y="6355080"/>
            <a:ext cx="731520" cy="1280160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 flipV="1">
            <a:off x="9306048" y="6949394"/>
            <a:ext cx="3116073" cy="706412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8693658" y="2523737"/>
            <a:ext cx="3728464" cy="4425657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 flipV="1">
            <a:off x="9235440" y="1746497"/>
            <a:ext cx="857511" cy="3397739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448056" y="1202436"/>
            <a:ext cx="109728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457200" y="117957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Yamaha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53896" y="1154436"/>
            <a:ext cx="685800" cy="274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หักเงิน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74420" y="2267712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1097280" y="2276855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รับรถ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- Key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รับรถ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</a:t>
            </a:r>
            <a:endParaRPr lang="th-TH" sz="1100" dirty="0">
              <a:solidFill>
                <a:srgbClr val="1A2A52"/>
              </a:solidFill>
              <a:latin typeface="Loma" pitchFamily="34" charset="0"/>
              <a:ea typeface="Loma" pitchFamily="34" charset="-122"/>
              <a:cs typeface="Loma" pitchFamily="34" charset="-120"/>
            </a:endParaRPr>
          </a:p>
          <a:p>
            <a:pPr algn="l"/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   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&lt; automate + manual 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-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เก็บบ</a:t>
            </a:r>
            <a:r>
              <a:rPr lang="th-TH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ิล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+ ใบทะเบียน (upload file)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52219" y="787907"/>
            <a:ext cx="2978732" cy="50367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2457424" y="785725"/>
            <a:ext cx="2873527" cy="50586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l">
              <a:buNone/>
            </a:pPr>
            <a:r>
              <a:rPr lang="th-TH" sz="1400" dirty="0"/>
              <a:t>เด้งแถบบนเตือน เซลล์ </a:t>
            </a:r>
            <a:r>
              <a:rPr lang="th-TH" sz="1400" dirty="0" err="1"/>
              <a:t>วีค</a:t>
            </a:r>
            <a:r>
              <a:rPr lang="th-TH" sz="1400" dirty="0"/>
              <a:t>โปร </a:t>
            </a:r>
            <a:r>
              <a:rPr lang="en-US" sz="1400" dirty="0"/>
              <a:t>(</a:t>
            </a:r>
            <a:r>
              <a:rPr lang="th-TH" sz="1400" dirty="0"/>
              <a:t>ถ้าขายรุ่นนี้ได้ลดราคาพิเศษ</a:t>
            </a:r>
            <a:r>
              <a:rPr lang="en-US" sz="1400" dirty="0"/>
              <a:t>)</a:t>
            </a:r>
          </a:p>
          <a:p>
            <a:pPr marL="0" indent="0" algn="l">
              <a:buNone/>
            </a:pPr>
            <a:r>
              <a:rPr lang="th-TH" sz="1400" dirty="0"/>
              <a:t>เช่น </a:t>
            </a:r>
            <a:r>
              <a:rPr lang="en-US" sz="1400" dirty="0"/>
              <a:t>Grand </a:t>
            </a:r>
            <a:r>
              <a:rPr lang="th-TH" sz="1400" dirty="0"/>
              <a:t>ลด </a:t>
            </a:r>
            <a:r>
              <a:rPr lang="en-US" sz="1400" dirty="0"/>
              <a:t>5,000.-</a:t>
            </a:r>
          </a:p>
        </p:txBody>
      </p:sp>
      <p:sp>
        <p:nvSpPr>
          <p:cNvPr id="36" name="Shape 34"/>
          <p:cNvSpPr/>
          <p:nvPr/>
        </p:nvSpPr>
        <p:spPr>
          <a:xfrm>
            <a:off x="2537460" y="2313432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2583180" y="230200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Stock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14015" y="2885668"/>
            <a:ext cx="1243585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2459735" y="2885668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Filter |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เช็ค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stock</a:t>
            </a:r>
          </a:p>
          <a:p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•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สาขา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•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รุ่น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•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สี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• ปีรถ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• รูปรถ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• จำนวนคงเหลือ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87367" y="230200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4114800" y="229285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ขาย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42233" y="2834640"/>
            <a:ext cx="76809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ดึงข้อมูลลูกค้า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จาก log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09260" y="2302738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5591556" y="229743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</a:t>
            </a:r>
            <a:r>
              <a:rPr lang="th-TH" sz="1500" b="1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ูก</a:t>
            </a:r>
            <a:r>
              <a:rPr lang="th-TH" sz="15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ค้า</a:t>
            </a:r>
            <a:r>
              <a:rPr lang="en-US" sz="1500" b="1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เงินสด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566660" y="1074420"/>
            <a:ext cx="10378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(ลูกค้า)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43800" y="1314452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7589520" y="13030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ใบเสร็จรับเงิน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663940" y="1040132"/>
            <a:ext cx="434340" cy="2171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Print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823960" y="1291589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8881110" y="13144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☑ Approve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89520" y="1801368"/>
            <a:ext cx="960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Text 52"/>
          <p:cNvSpPr/>
          <p:nvPr/>
        </p:nvSpPr>
        <p:spPr>
          <a:xfrm>
            <a:off x="7680960" y="18288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ใบกำกับภาษี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(</a:t>
            </a: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บางราย</a:t>
            </a: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596378" y="235801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56" name="Text 54"/>
          <p:cNvSpPr/>
          <p:nvPr/>
        </p:nvSpPr>
        <p:spPr>
          <a:xfrm>
            <a:off x="7626094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✓ ได้รับเงิน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149840" y="1463040"/>
            <a:ext cx="1271016" cy="365756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8" name="Text 56"/>
          <p:cNvSpPr/>
          <p:nvPr/>
        </p:nvSpPr>
        <p:spPr>
          <a:xfrm>
            <a:off x="10012680" y="1463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ติดตามหลังการขาย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2161520" y="146304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Text 58"/>
          <p:cNvSpPr/>
          <p:nvPr/>
        </p:nvSpPr>
        <p:spPr>
          <a:xfrm>
            <a:off x="12207240" y="1463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ติดตามลูกค้าเก่า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4904720" y="13716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Text 60"/>
          <p:cNvSpPr/>
          <p:nvPr/>
        </p:nvSpPr>
        <p:spPr>
          <a:xfrm>
            <a:off x="14950440" y="137160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อีกหน้า</a:t>
            </a:r>
          </a:p>
          <a:p>
            <a:pPr marL="0" indent="0" algn="l">
              <a:buNone/>
            </a:pP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หน้าติดตามลูกค้า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323576" y="19293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ทะเบียน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440162" y="2148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├ ได้รับ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476737" y="22677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└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ยังไม่ได้รับ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</a:t>
            </a:r>
            <a:endParaRPr lang="th-TH" sz="1100" dirty="0">
              <a:solidFill>
                <a:srgbClr val="1A2A52"/>
              </a:solidFill>
              <a:latin typeface="Loma" pitchFamily="34" charset="0"/>
              <a:ea typeface="Loma" pitchFamily="34" charset="-122"/>
              <a:cs typeface="Loma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(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กี่วันแล้ว </a:t>
            </a:r>
            <a:r>
              <a:rPr lang="th-TH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ให่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เตือนถ้านานเกิน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เดือน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333731" y="26974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เงินค้างรับ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2298681" y="1984247"/>
            <a:ext cx="2743200" cy="9738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7 วัน — </a:t>
            </a: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ถามเรื่อง</a:t>
            </a:r>
            <a:r>
              <a:rPr lang="en-US" sz="12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ออกรถใหม่</a:t>
            </a: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เป็นไงบ้าง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30 วัน — </a:t>
            </a:r>
            <a:r>
              <a:rPr lang="en-US" sz="12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เช็คระยะ</a:t>
            </a: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</a:t>
            </a: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รับ</a:t>
            </a:r>
            <a:r>
              <a:rPr lang="en-US" sz="12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ทะเบียน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90 วัน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 ปี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3 ปี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4767560" y="18928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</a:t>
            </a:r>
            <a:r>
              <a:rPr lang="th-TH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ูก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ค้า    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ข้าล่า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สุด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    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ติดตาม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    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เช</a:t>
            </a:r>
            <a:r>
              <a:rPr lang="th-TH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ล์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5286480" y="2185416"/>
            <a:ext cx="5326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Text 68"/>
          <p:cNvSpPr/>
          <p:nvPr/>
        </p:nvSpPr>
        <p:spPr>
          <a:xfrm>
            <a:off x="15286480" y="2212848"/>
            <a:ext cx="464059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วันที่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5864840" y="217398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2" name="Text 70"/>
          <p:cNvSpPr/>
          <p:nvPr/>
        </p:nvSpPr>
        <p:spPr>
          <a:xfrm>
            <a:off x="15910560" y="2212848"/>
            <a:ext cx="14630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6148304" y="2176272"/>
            <a:ext cx="54864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4" name="Text 72"/>
          <p:cNvSpPr/>
          <p:nvPr/>
        </p:nvSpPr>
        <p:spPr>
          <a:xfrm>
            <a:off x="18196560" y="2377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4965161" y="3507143"/>
            <a:ext cx="2103120" cy="2382667"/>
          </a:xfrm>
          <a:prstGeom prst="roundRect">
            <a:avLst>
              <a:gd name="adj" fmla="val 5455"/>
            </a:avLst>
          </a:prstGeom>
          <a:solidFill>
            <a:srgbClr val="FDFDFE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6" name="Text 74"/>
          <p:cNvSpPr/>
          <p:nvPr/>
        </p:nvSpPr>
        <p:spPr>
          <a:xfrm>
            <a:off x="15864840" y="37033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5422360" y="352025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15133320" y="3829913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9" name="Text 77"/>
          <p:cNvSpPr/>
          <p:nvPr/>
        </p:nvSpPr>
        <p:spPr>
          <a:xfrm>
            <a:off x="15087600" y="385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รายงานการขาย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6322040" y="10163048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1" name="Text 79"/>
          <p:cNvSpPr/>
          <p:nvPr/>
        </p:nvSpPr>
        <p:spPr>
          <a:xfrm>
            <a:off x="16360315" y="1017168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HR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16276320" y="10743883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Clock in - Clock out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6276320" y="10984285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เงินเดือน → สลิปเงินเดือน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16322040" y="1126200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OT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6322040" y="11461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ลางาน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6230600" y="11976196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7" name="Text 85"/>
          <p:cNvSpPr/>
          <p:nvPr/>
        </p:nvSpPr>
        <p:spPr>
          <a:xfrm>
            <a:off x="16413480" y="11970565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รายงานส่งประกันสังคม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16230600" y="12467528"/>
            <a:ext cx="256032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9" name="Text 87"/>
          <p:cNvSpPr/>
          <p:nvPr/>
        </p:nvSpPr>
        <p:spPr>
          <a:xfrm>
            <a:off x="16438573" y="12467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th-TH" sz="1200" dirty="0"/>
              <a:t>รายงายโอนเงินเดือนให้ธนาคาร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6035040" y="598932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1" name="Text 89"/>
          <p:cNvSpPr/>
          <p:nvPr/>
        </p:nvSpPr>
        <p:spPr>
          <a:xfrm>
            <a:off x="6080760" y="5989320"/>
            <a:ext cx="106985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ลูกค้า</a:t>
            </a:r>
            <a:r>
              <a:rPr lang="en-US" sz="1400" b="1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เงินผ่อน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7909560" y="5264661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(ลูกค้า)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946134" y="5532120"/>
            <a:ext cx="87782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4" name="Text 92"/>
          <p:cNvSpPr/>
          <p:nvPr/>
        </p:nvSpPr>
        <p:spPr>
          <a:xfrm>
            <a:off x="8001000" y="5521837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ใบเสร็จรับเงิน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8869680" y="5784726"/>
            <a:ext cx="5875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(ลูกค้า)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939538" y="5989320"/>
            <a:ext cx="134162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7" name="Text 95"/>
          <p:cNvSpPr/>
          <p:nvPr/>
        </p:nvSpPr>
        <p:spPr>
          <a:xfrm>
            <a:off x="7955280" y="59984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ใบกำกับภาษีเงินดาวน์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7895843" y="643737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9" name="Text 97"/>
          <p:cNvSpPr/>
          <p:nvPr/>
        </p:nvSpPr>
        <p:spPr>
          <a:xfrm>
            <a:off x="7936993" y="643737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ใบกำกับภาษี (finance)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7902701" y="69037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1" name="Text 99"/>
          <p:cNvSpPr/>
          <p:nvPr/>
        </p:nvSpPr>
        <p:spPr>
          <a:xfrm>
            <a:off x="7936989" y="6903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tracking finance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อยากให้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Ai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ดึง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(auto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จาก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email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finance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ส่งยอดจ่ายเงิน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ได้รับเงิน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จาก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finance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รึยัง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?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7875268" y="7497921"/>
            <a:ext cx="14307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103" name="Text 101"/>
          <p:cNvSpPr/>
          <p:nvPr/>
        </p:nvSpPr>
        <p:spPr>
          <a:xfrm>
            <a:off x="7975852" y="7497921"/>
            <a:ext cx="13301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ได้รับเงินจาก finance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2527280" y="6537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บันทึกบช.เงินสด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12435840" y="676656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6" name="Text 104"/>
          <p:cNvSpPr/>
          <p:nvPr/>
        </p:nvSpPr>
        <p:spPr>
          <a:xfrm>
            <a:off x="12481560" y="6766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ลงรับ cash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228600" y="5257800"/>
            <a:ext cx="5977467" cy="6035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548640" y="5806440"/>
            <a:ext cx="146304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0" name="Text 108"/>
          <p:cNvSpPr/>
          <p:nvPr/>
        </p:nvSpPr>
        <p:spPr>
          <a:xfrm>
            <a:off x="594360" y="58064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log ลูกค้า</a:t>
            </a:r>
            <a:endParaRPr lang="en-US" sz="1500" dirty="0"/>
          </a:p>
        </p:txBody>
      </p:sp>
      <p:sp>
        <p:nvSpPr>
          <p:cNvPr id="111" name="Text 109"/>
          <p:cNvSpPr/>
          <p:nvPr/>
        </p:nvSpPr>
        <p:spPr>
          <a:xfrm>
            <a:off x="2377440" y="5623559"/>
            <a:ext cx="4572000" cy="7955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Status:</a:t>
            </a:r>
            <a:endParaRPr lang="th-TH" sz="1000" dirty="0">
              <a:solidFill>
                <a:srgbClr val="1A2A52"/>
              </a:solidFill>
              <a:latin typeface="Loma" pitchFamily="34" charset="0"/>
              <a:ea typeface="Loma" pitchFamily="34" charset="-122"/>
              <a:cs typeface="Loma" pitchFamily="34" charset="-120"/>
            </a:endParaRPr>
          </a:p>
          <a:p>
            <a:pPr marL="0" indent="0" algn="l">
              <a:buNone/>
            </a:pP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เช่น วิว 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   o.....................o…………o………………...o…...…………o    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        </a:t>
            </a: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เข้ามาดูรถ   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            </a:t>
            </a: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สนใจ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       </a:t>
            </a: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สัญญา         ผ่าน / ไม่ผ่าน         รับรถสำเร็จ</a:t>
            </a:r>
          </a:p>
          <a:p>
            <a:pPr marL="0" indent="0" algn="l">
              <a:buNone/>
            </a:pP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 /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</a:t>
            </a: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เจอผ่าน 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Facebook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21792" y="7315041"/>
            <a:ext cx="1645920" cy="10972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3" name="Text 111"/>
          <p:cNvSpPr/>
          <p:nvPr/>
        </p:nvSpPr>
        <p:spPr>
          <a:xfrm>
            <a:off x="676656" y="7360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คำนวณยอดผ่อน</a:t>
            </a:r>
            <a:endParaRPr lang="en-US" sz="1500" dirty="0"/>
          </a:p>
          <a:p>
            <a:pPr marL="0" indent="0" algn="ctr">
              <a:buNone/>
            </a:pPr>
            <a:r>
              <a:rPr lang="th-TH" sz="15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ราคายอดกู้แต่ละไฟแนน</a:t>
            </a:r>
            <a:r>
              <a:rPr lang="th-TH" sz="15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ซ์</a:t>
            </a:r>
            <a:endParaRPr lang="en-US" sz="1500" dirty="0"/>
          </a:p>
        </p:txBody>
      </p:sp>
      <p:sp>
        <p:nvSpPr>
          <p:cNvPr id="114" name="Shape 112"/>
          <p:cNvSpPr/>
          <p:nvPr/>
        </p:nvSpPr>
        <p:spPr>
          <a:xfrm>
            <a:off x="3657600" y="77266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5" name="Text 113"/>
          <p:cNvSpPr/>
          <p:nvPr/>
        </p:nvSpPr>
        <p:spPr>
          <a:xfrm>
            <a:off x="3703320" y="7726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ใบเสนอราคา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657600" y="85496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8" name="Text 116"/>
          <p:cNvSpPr/>
          <p:nvPr/>
        </p:nvSpPr>
        <p:spPr>
          <a:xfrm>
            <a:off x="3703320" y="8549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ชื่อ  |  </a:t>
            </a:r>
            <a:r>
              <a:rPr lang="en-US" sz="10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รุ่นรถ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</a:t>
            </a:r>
            <a:r>
              <a:rPr lang="en-US" sz="10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คัน</a:t>
            </a: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 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ที่อยู่  |  ราคา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548640" y="9646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finance 1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2011680" y="9646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finance 2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548640" y="9875520"/>
            <a:ext cx="1188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2" name="Text 120"/>
          <p:cNvSpPr/>
          <p:nvPr/>
        </p:nvSpPr>
        <p:spPr>
          <a:xfrm>
            <a:off x="594360" y="9875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☐ ชื่อ | ราคา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12   | ...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24   | ...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36   | ...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011680" y="9875520"/>
            <a:ext cx="1188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4" name="Text 122"/>
          <p:cNvSpPr/>
          <p:nvPr/>
        </p:nvSpPr>
        <p:spPr>
          <a:xfrm>
            <a:off x="2057400" y="98755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☐ ชื่อ | ราคา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12   | ...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24   | ...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36   | ...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7114033" y="10666395"/>
            <a:ext cx="1344167" cy="12801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upload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ไฟล์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ใบเสร็จได้</a:t>
            </a:r>
            <a:endParaRPr lang="en-US" sz="1100" dirty="0"/>
          </a:p>
          <a:p>
            <a:pPr marL="0" indent="0" algn="l">
              <a:buNone/>
            </a:pP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ทำรายจ่ายเป็นหมวดหมู่</a:t>
            </a:r>
          </a:p>
          <a:p>
            <a:pPr marL="0" indent="0" algn="l">
              <a:buNone/>
            </a:pP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เช่น</a:t>
            </a:r>
          </a:p>
          <a:p>
            <a:pPr marL="0" indent="0" algn="l">
              <a:buNone/>
            </a:pP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ออกบูธ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Payroll</a:t>
            </a:r>
            <a:endParaRPr lang="th-TH" sz="1100" dirty="0">
              <a:solidFill>
                <a:srgbClr val="1A2A52"/>
              </a:solidFill>
              <a:latin typeface="Loma" pitchFamily="34" charset="0"/>
              <a:ea typeface="Loma" pitchFamily="34" charset="-122"/>
              <a:cs typeface="Loma" pitchFamily="34" charset="-120"/>
            </a:endParaRPr>
          </a:p>
          <a:p>
            <a:pPr marL="0" indent="0" algn="l">
              <a:buNone/>
            </a:pP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ค่าน้ำไฟ</a:t>
            </a:r>
          </a:p>
          <a:p>
            <a:pPr marL="0" indent="0" algn="l">
              <a:buNone/>
            </a:pP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ค่าอาหารเลี้ยงแขก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9043416" y="10666396"/>
            <a:ext cx="127558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stock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จำนวนของแถม</a:t>
            </a:r>
            <a:endParaRPr lang="en-US" sz="1100" dirty="0"/>
          </a:p>
        </p:txBody>
      </p:sp>
      <p:sp>
        <p:nvSpPr>
          <p:cNvPr id="131" name="Text 129"/>
          <p:cNvSpPr/>
          <p:nvPr/>
        </p:nvSpPr>
        <p:spPr>
          <a:xfrm>
            <a:off x="8961119" y="1091379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ราย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การ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  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จำนวน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  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ราคา 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รวม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11520763" y="1063947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ยอดขาย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ต้นทุน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กำไร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(ต่อวัน)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13033587" y="10171686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6" name="Text 134"/>
          <p:cNvSpPr/>
          <p:nvPr/>
        </p:nvSpPr>
        <p:spPr>
          <a:xfrm>
            <a:off x="12992947" y="101630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Service</a:t>
            </a:r>
            <a:endParaRPr lang="en-US" sz="1400" dirty="0"/>
          </a:p>
        </p:txBody>
      </p:sp>
      <p:sp>
        <p:nvSpPr>
          <p:cNvPr id="138" name="Text 136"/>
          <p:cNvSpPr/>
          <p:nvPr/>
        </p:nvSpPr>
        <p:spPr>
          <a:xfrm>
            <a:off x="13042053" y="1063947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ลงเวลาเข้า Service จริง</a:t>
            </a:r>
            <a:endParaRPr lang="en-US" sz="1200" dirty="0"/>
          </a:p>
        </p:txBody>
      </p:sp>
      <p:sp>
        <p:nvSpPr>
          <p:cNvPr id="139" name="Text 137"/>
          <p:cNvSpPr/>
          <p:nvPr/>
        </p:nvSpPr>
        <p:spPr>
          <a:xfrm>
            <a:off x="12422121" y="10855119"/>
            <a:ext cx="422778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ชื่อ / เบอร์โทรศัพท์ / 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เลข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เครื่อง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/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เลขถัง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/ 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รับบริการอะไร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/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สถานะลูกค้า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       ……………………………………………………..........(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เช่น ลูกค้าเก่าหรือใหม่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)</a:t>
            </a:r>
            <a:endParaRPr lang="en-US" sz="1100" dirty="0"/>
          </a:p>
        </p:txBody>
      </p:sp>
      <p:sp>
        <p:nvSpPr>
          <p:cNvPr id="141" name="Text 139"/>
          <p:cNvSpPr/>
          <p:nvPr/>
        </p:nvSpPr>
        <p:spPr>
          <a:xfrm>
            <a:off x="14902593" y="10694341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status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12938760" y="11371580"/>
            <a:ext cx="22123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(</a:t>
            </a: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ถ้าลูกค้า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เก่า จะดึงหน้าติดตามลูกค้าเก่ามา 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show)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(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ลูกค้าเก่าดูจากเลขเครื่อง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/</a:t>
            </a: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เลขถัง</a:t>
            </a:r>
            <a:r>
              <a:rPr lang="en-US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)</a:t>
            </a:r>
            <a:endParaRPr lang="en-US" sz="1100" dirty="0"/>
          </a:p>
        </p:txBody>
      </p:sp>
      <p:sp>
        <p:nvSpPr>
          <p:cNvPr id="144" name="Text 28">
            <a:extLst>
              <a:ext uri="{FF2B5EF4-FFF2-40B4-BE49-F238E27FC236}">
                <a16:creationId xmlns:a16="http://schemas.microsoft.com/office/drawing/2014/main" id="{925109E5-29B8-C2E6-42A7-9DCD906D4C65}"/>
              </a:ext>
            </a:extLst>
          </p:cNvPr>
          <p:cNvSpPr/>
          <p:nvPr/>
        </p:nvSpPr>
        <p:spPr>
          <a:xfrm>
            <a:off x="420624" y="5559556"/>
            <a:ext cx="2313432" cy="274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h-TH" sz="11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เก็บ ชื่อ เบอร์ รุ่นรถที่สนใจ สถานะการติดตาม</a:t>
            </a:r>
            <a:endParaRPr lang="en-US" sz="1100" dirty="0"/>
          </a:p>
        </p:txBody>
      </p:sp>
      <p:sp>
        <p:nvSpPr>
          <p:cNvPr id="145" name="Shape 5">
            <a:extLst>
              <a:ext uri="{FF2B5EF4-FFF2-40B4-BE49-F238E27FC236}">
                <a16:creationId xmlns:a16="http://schemas.microsoft.com/office/drawing/2014/main" id="{50E56E2A-4A20-C64F-E6B8-041FC7E722B9}"/>
              </a:ext>
            </a:extLst>
          </p:cNvPr>
          <p:cNvSpPr/>
          <p:nvPr/>
        </p:nvSpPr>
        <p:spPr>
          <a:xfrm>
            <a:off x="2276856" y="7842344"/>
            <a:ext cx="1371600" cy="21253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46" name="Text 28">
            <a:extLst>
              <a:ext uri="{FF2B5EF4-FFF2-40B4-BE49-F238E27FC236}">
                <a16:creationId xmlns:a16="http://schemas.microsoft.com/office/drawing/2014/main" id="{B8F2D1BD-0D2F-4A82-BD10-510A7703BEEC}"/>
              </a:ext>
            </a:extLst>
          </p:cNvPr>
          <p:cNvSpPr/>
          <p:nvPr/>
        </p:nvSpPr>
        <p:spPr>
          <a:xfrm>
            <a:off x="1380744" y="9326804"/>
            <a:ext cx="987552" cy="274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h-TH" sz="1100" dirty="0"/>
              <a:t>เทียบ </a:t>
            </a:r>
            <a:r>
              <a:rPr lang="en-US" sz="1100" dirty="0"/>
              <a:t>2 </a:t>
            </a:r>
            <a:r>
              <a:rPr lang="th-TH" sz="1100" dirty="0" err="1"/>
              <a:t>f</a:t>
            </a:r>
            <a:r>
              <a:rPr lang="en-US" sz="1100" dirty="0" err="1"/>
              <a:t>inance</a:t>
            </a:r>
            <a:endParaRPr lang="en-US" sz="1100" dirty="0"/>
          </a:p>
        </p:txBody>
      </p:sp>
      <p:sp>
        <p:nvSpPr>
          <p:cNvPr id="147" name="Text 28">
            <a:extLst>
              <a:ext uri="{FF2B5EF4-FFF2-40B4-BE49-F238E27FC236}">
                <a16:creationId xmlns:a16="http://schemas.microsoft.com/office/drawing/2014/main" id="{325EB9B3-0A78-C55A-F88E-68E9AB1DA277}"/>
              </a:ext>
            </a:extLst>
          </p:cNvPr>
          <p:cNvSpPr/>
          <p:nvPr/>
        </p:nvSpPr>
        <p:spPr>
          <a:xfrm>
            <a:off x="2871216" y="9555480"/>
            <a:ext cx="466344" cy="246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print</a:t>
            </a:r>
          </a:p>
        </p:txBody>
      </p:sp>
      <p:sp>
        <p:nvSpPr>
          <p:cNvPr id="148" name="Text 28">
            <a:extLst>
              <a:ext uri="{FF2B5EF4-FFF2-40B4-BE49-F238E27FC236}">
                <a16:creationId xmlns:a16="http://schemas.microsoft.com/office/drawing/2014/main" id="{189D8F97-FF90-8C86-71E5-D26EB49F5364}"/>
              </a:ext>
            </a:extLst>
          </p:cNvPr>
          <p:cNvSpPr/>
          <p:nvPr/>
        </p:nvSpPr>
        <p:spPr>
          <a:xfrm>
            <a:off x="4800600" y="8331683"/>
            <a:ext cx="466344" cy="246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print</a:t>
            </a:r>
          </a:p>
        </p:txBody>
      </p:sp>
      <p:sp>
        <p:nvSpPr>
          <p:cNvPr id="149" name="Shape 10">
            <a:extLst>
              <a:ext uri="{FF2B5EF4-FFF2-40B4-BE49-F238E27FC236}">
                <a16:creationId xmlns:a16="http://schemas.microsoft.com/office/drawing/2014/main" id="{8295157E-62E7-9A7B-8D8B-FAC07D8D7A1E}"/>
              </a:ext>
            </a:extLst>
          </p:cNvPr>
          <p:cNvSpPr/>
          <p:nvPr/>
        </p:nvSpPr>
        <p:spPr>
          <a:xfrm>
            <a:off x="4389120" y="8129016"/>
            <a:ext cx="9144" cy="402326"/>
          </a:xfrm>
          <a:prstGeom prst="line">
            <a:avLst/>
          </a:prstGeom>
          <a:noFill/>
          <a:ln w="19050">
            <a:solidFill>
              <a:srgbClr val="1A2A52"/>
            </a:solidFill>
            <a:prstDash val="dash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1" name="Shape 115">
            <a:extLst>
              <a:ext uri="{FF2B5EF4-FFF2-40B4-BE49-F238E27FC236}">
                <a16:creationId xmlns:a16="http://schemas.microsoft.com/office/drawing/2014/main" id="{B56AE142-ABD1-D800-5E25-F72BD1E44418}"/>
              </a:ext>
            </a:extLst>
          </p:cNvPr>
          <p:cNvSpPr/>
          <p:nvPr/>
        </p:nvSpPr>
        <p:spPr>
          <a:xfrm>
            <a:off x="3670872" y="9154324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0" name="Text 116">
            <a:extLst>
              <a:ext uri="{FF2B5EF4-FFF2-40B4-BE49-F238E27FC236}">
                <a16:creationId xmlns:a16="http://schemas.microsoft.com/office/drawing/2014/main" id="{2FE0B0EC-F648-2739-B15B-ED9FCDE74924}"/>
              </a:ext>
            </a:extLst>
          </p:cNvPr>
          <p:cNvSpPr/>
          <p:nvPr/>
        </p:nvSpPr>
        <p:spPr>
          <a:xfrm>
            <a:off x="3721608" y="908549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ชื่อ  |  </a:t>
            </a:r>
            <a:r>
              <a:rPr lang="en-US" sz="10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รุ่นรถ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 </a:t>
            </a:r>
            <a:r>
              <a:rPr lang="en-US" sz="10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คัน</a:t>
            </a:r>
            <a:r>
              <a:rPr lang="th-TH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 </a:t>
            </a: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ที่อยู่  |  ราคา</a:t>
            </a:r>
            <a:endParaRPr lang="en-US" sz="1000" dirty="0"/>
          </a:p>
        </p:txBody>
      </p:sp>
      <p:sp>
        <p:nvSpPr>
          <p:cNvPr id="153" name="Text 28">
            <a:extLst>
              <a:ext uri="{FF2B5EF4-FFF2-40B4-BE49-F238E27FC236}">
                <a16:creationId xmlns:a16="http://schemas.microsoft.com/office/drawing/2014/main" id="{C36E8C1E-84B0-5AEC-6DAC-AB5CB7D9D2EC}"/>
              </a:ext>
            </a:extLst>
          </p:cNvPr>
          <p:cNvSpPr/>
          <p:nvPr/>
        </p:nvSpPr>
        <p:spPr>
          <a:xfrm>
            <a:off x="604235" y="4846322"/>
            <a:ext cx="2313432" cy="274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Tab</a:t>
            </a:r>
            <a:r>
              <a:rPr lang="th-TH" sz="16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s</a:t>
            </a:r>
            <a:r>
              <a:rPr lang="en-US" sz="16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</a:t>
            </a:r>
            <a:r>
              <a:rPr lang="th-TH" sz="16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เพิ่มเติมที่อยากให้มี</a:t>
            </a:r>
            <a:endParaRPr lang="en-US" sz="1600" dirty="0"/>
          </a:p>
        </p:txBody>
      </p:sp>
      <p:sp>
        <p:nvSpPr>
          <p:cNvPr id="154" name="Shape 10">
            <a:extLst>
              <a:ext uri="{FF2B5EF4-FFF2-40B4-BE49-F238E27FC236}">
                <a16:creationId xmlns:a16="http://schemas.microsoft.com/office/drawing/2014/main" id="{87EBC187-3632-C067-9F9E-97A3C35B1EFD}"/>
              </a:ext>
            </a:extLst>
          </p:cNvPr>
          <p:cNvSpPr/>
          <p:nvPr/>
        </p:nvSpPr>
        <p:spPr>
          <a:xfrm flipH="1">
            <a:off x="2080260" y="3234655"/>
            <a:ext cx="2322574" cy="2817111"/>
          </a:xfrm>
          <a:prstGeom prst="line">
            <a:avLst/>
          </a:prstGeom>
          <a:noFill/>
          <a:ln w="19050">
            <a:solidFill>
              <a:srgbClr val="1A2A52"/>
            </a:solidFill>
            <a:prstDash val="dash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5" name="Text 28">
            <a:extLst>
              <a:ext uri="{FF2B5EF4-FFF2-40B4-BE49-F238E27FC236}">
                <a16:creationId xmlns:a16="http://schemas.microsoft.com/office/drawing/2014/main" id="{8259AC13-874B-9A63-7CBB-ACAE1D20C040}"/>
              </a:ext>
            </a:extLst>
          </p:cNvPr>
          <p:cNvSpPr/>
          <p:nvPr/>
        </p:nvSpPr>
        <p:spPr>
          <a:xfrm>
            <a:off x="3817619" y="2080643"/>
            <a:ext cx="1513331" cy="2918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/>
              <a:t>show </a:t>
            </a:r>
            <a:r>
              <a:rPr lang="th-TH" sz="1100" dirty="0"/>
              <a:t>รายการขาย</a:t>
            </a:r>
            <a:r>
              <a:rPr lang="en-US" sz="1100" dirty="0"/>
              <a:t>, sale, GP</a:t>
            </a:r>
          </a:p>
        </p:txBody>
      </p:sp>
      <p:sp>
        <p:nvSpPr>
          <p:cNvPr id="156" name="Shape 9">
            <a:extLst>
              <a:ext uri="{FF2B5EF4-FFF2-40B4-BE49-F238E27FC236}">
                <a16:creationId xmlns:a16="http://schemas.microsoft.com/office/drawing/2014/main" id="{4F84B4CC-F104-B831-5B71-1C8ECF2C6A8E}"/>
              </a:ext>
            </a:extLst>
          </p:cNvPr>
          <p:cNvSpPr/>
          <p:nvPr/>
        </p:nvSpPr>
        <p:spPr>
          <a:xfrm>
            <a:off x="6812280" y="2484881"/>
            <a:ext cx="774954" cy="6857"/>
          </a:xfrm>
          <a:prstGeom prst="line">
            <a:avLst/>
          </a:prstGeom>
          <a:noFill/>
          <a:ln w="19050">
            <a:solidFill>
              <a:srgbClr val="1A2A52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7" name="Text 45">
            <a:extLst>
              <a:ext uri="{FF2B5EF4-FFF2-40B4-BE49-F238E27FC236}">
                <a16:creationId xmlns:a16="http://schemas.microsoft.com/office/drawing/2014/main" id="{D6A4FB91-DE97-0630-3FEB-0F4176CE5FBE}"/>
              </a:ext>
            </a:extLst>
          </p:cNvPr>
          <p:cNvSpPr/>
          <p:nvPr/>
        </p:nvSpPr>
        <p:spPr>
          <a:xfrm>
            <a:off x="7635240" y="1580769"/>
            <a:ext cx="1069850" cy="339469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th-TH" sz="12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รายการของแถมก็ลงด้วย</a:t>
            </a:r>
            <a:endParaRPr lang="en-US" sz="1200" dirty="0"/>
          </a:p>
        </p:txBody>
      </p:sp>
      <p:sp>
        <p:nvSpPr>
          <p:cNvPr id="162" name="Text 61">
            <a:extLst>
              <a:ext uri="{FF2B5EF4-FFF2-40B4-BE49-F238E27FC236}">
                <a16:creationId xmlns:a16="http://schemas.microsoft.com/office/drawing/2014/main" id="{554C67F3-3015-5558-583F-30757EEE1520}"/>
              </a:ext>
            </a:extLst>
          </p:cNvPr>
          <p:cNvSpPr/>
          <p:nvPr/>
        </p:nvSpPr>
        <p:spPr>
          <a:xfrm>
            <a:off x="13441680" y="1223012"/>
            <a:ext cx="55321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serch</a:t>
            </a:r>
            <a:endParaRPr lang="en-US" sz="1100" dirty="0"/>
          </a:p>
        </p:txBody>
      </p:sp>
      <p:sp>
        <p:nvSpPr>
          <p:cNvPr id="163" name="Shape 67">
            <a:extLst>
              <a:ext uri="{FF2B5EF4-FFF2-40B4-BE49-F238E27FC236}">
                <a16:creationId xmlns:a16="http://schemas.microsoft.com/office/drawing/2014/main" id="{C605E789-7B9C-F57C-CC59-80F464ABF884}"/>
              </a:ext>
            </a:extLst>
          </p:cNvPr>
          <p:cNvSpPr/>
          <p:nvPr/>
        </p:nvSpPr>
        <p:spPr>
          <a:xfrm>
            <a:off x="14840712" y="2185416"/>
            <a:ext cx="36119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58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4" name="Text 79">
            <a:extLst>
              <a:ext uri="{FF2B5EF4-FFF2-40B4-BE49-F238E27FC236}">
                <a16:creationId xmlns:a16="http://schemas.microsoft.com/office/drawing/2014/main" id="{5F4E8CFD-F9BD-8659-2EEE-84B9118C7209}"/>
              </a:ext>
            </a:extLst>
          </p:cNvPr>
          <p:cNvSpPr/>
          <p:nvPr/>
        </p:nvSpPr>
        <p:spPr>
          <a:xfrm>
            <a:off x="7212583" y="10198495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th-TH" sz="1300" dirty="0"/>
              <a:t>ค่าใช้จ่าย</a:t>
            </a:r>
            <a:endParaRPr lang="en-US" sz="1300" dirty="0"/>
          </a:p>
        </p:txBody>
      </p:sp>
      <p:sp>
        <p:nvSpPr>
          <p:cNvPr id="166" name="Shape 78">
            <a:extLst>
              <a:ext uri="{FF2B5EF4-FFF2-40B4-BE49-F238E27FC236}">
                <a16:creationId xmlns:a16="http://schemas.microsoft.com/office/drawing/2014/main" id="{E3250941-54F3-C0E4-4FD2-74B8D9141E27}"/>
              </a:ext>
            </a:extLst>
          </p:cNvPr>
          <p:cNvSpPr/>
          <p:nvPr/>
        </p:nvSpPr>
        <p:spPr>
          <a:xfrm>
            <a:off x="9058137" y="10156076"/>
            <a:ext cx="949960" cy="37439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7" name="Shape 78">
            <a:extLst>
              <a:ext uri="{FF2B5EF4-FFF2-40B4-BE49-F238E27FC236}">
                <a16:creationId xmlns:a16="http://schemas.microsoft.com/office/drawing/2014/main" id="{12A0829E-C821-949F-262D-70942E75C923}"/>
              </a:ext>
            </a:extLst>
          </p:cNvPr>
          <p:cNvSpPr/>
          <p:nvPr/>
        </p:nvSpPr>
        <p:spPr>
          <a:xfrm>
            <a:off x="11348721" y="10162795"/>
            <a:ext cx="949960" cy="37439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9" name="Text 79">
            <a:extLst>
              <a:ext uri="{FF2B5EF4-FFF2-40B4-BE49-F238E27FC236}">
                <a16:creationId xmlns:a16="http://schemas.microsoft.com/office/drawing/2014/main" id="{1556EF00-32C2-AEA5-5302-08F35EA27BBB}"/>
              </a:ext>
            </a:extLst>
          </p:cNvPr>
          <p:cNvSpPr/>
          <p:nvPr/>
        </p:nvSpPr>
        <p:spPr>
          <a:xfrm>
            <a:off x="9155430" y="10198495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th-TH" sz="1300" dirty="0"/>
              <a:t>ของแถม</a:t>
            </a:r>
            <a:endParaRPr lang="en-US" sz="1300" dirty="0"/>
          </a:p>
        </p:txBody>
      </p:sp>
      <p:sp>
        <p:nvSpPr>
          <p:cNvPr id="170" name="Text 79">
            <a:extLst>
              <a:ext uri="{FF2B5EF4-FFF2-40B4-BE49-F238E27FC236}">
                <a16:creationId xmlns:a16="http://schemas.microsoft.com/office/drawing/2014/main" id="{A3158EA9-3E79-CFB6-4934-BAF33CCF4941}"/>
              </a:ext>
            </a:extLst>
          </p:cNvPr>
          <p:cNvSpPr/>
          <p:nvPr/>
        </p:nvSpPr>
        <p:spPr>
          <a:xfrm>
            <a:off x="11430000" y="1017168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th-TH" sz="1300" dirty="0"/>
              <a:t>อะไหล่</a:t>
            </a:r>
            <a:endParaRPr lang="en-US" sz="1300" dirty="0"/>
          </a:p>
        </p:txBody>
      </p:sp>
      <p:sp>
        <p:nvSpPr>
          <p:cNvPr id="172" name="Text 28">
            <a:extLst>
              <a:ext uri="{FF2B5EF4-FFF2-40B4-BE49-F238E27FC236}">
                <a16:creationId xmlns:a16="http://schemas.microsoft.com/office/drawing/2014/main" id="{59395308-4C3B-E0D7-4E99-F68FC782D9C6}"/>
              </a:ext>
            </a:extLst>
          </p:cNvPr>
          <p:cNvSpPr/>
          <p:nvPr/>
        </p:nvSpPr>
        <p:spPr>
          <a:xfrm>
            <a:off x="7178040" y="9303240"/>
            <a:ext cx="2313432" cy="274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Tab</a:t>
            </a:r>
            <a:r>
              <a:rPr lang="th-TH" sz="1600" dirty="0" err="1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s</a:t>
            </a:r>
            <a:r>
              <a:rPr lang="en-US" sz="16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 </a:t>
            </a:r>
            <a:r>
              <a:rPr lang="th-TH" sz="1600" dirty="0">
                <a:solidFill>
                  <a:srgbClr val="1A2A52"/>
                </a:solidFill>
                <a:latin typeface="Loma" pitchFamily="34" charset="0"/>
                <a:ea typeface="Loma" pitchFamily="34" charset="-122"/>
              </a:rPr>
              <a:t>เพิ่มเติมที่อยากให้มี</a:t>
            </a:r>
            <a:endParaRPr lang="en-US" sz="1600" dirty="0"/>
          </a:p>
        </p:txBody>
      </p:sp>
      <p:sp>
        <p:nvSpPr>
          <p:cNvPr id="173" name="Shape 76">
            <a:extLst>
              <a:ext uri="{FF2B5EF4-FFF2-40B4-BE49-F238E27FC236}">
                <a16:creationId xmlns:a16="http://schemas.microsoft.com/office/drawing/2014/main" id="{380EAF8A-A44D-13B0-5092-F79E17301DC9}"/>
              </a:ext>
            </a:extLst>
          </p:cNvPr>
          <p:cNvSpPr/>
          <p:nvPr/>
        </p:nvSpPr>
        <p:spPr>
          <a:xfrm>
            <a:off x="15133320" y="4347137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174" name="Shape 76">
            <a:extLst>
              <a:ext uri="{FF2B5EF4-FFF2-40B4-BE49-F238E27FC236}">
                <a16:creationId xmlns:a16="http://schemas.microsoft.com/office/drawing/2014/main" id="{06DC67C0-4BBD-D9A5-89CA-071FF70BDCC1}"/>
              </a:ext>
            </a:extLst>
          </p:cNvPr>
          <p:cNvSpPr/>
          <p:nvPr/>
        </p:nvSpPr>
        <p:spPr>
          <a:xfrm>
            <a:off x="15133320" y="4813483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5" name="Text 77">
            <a:extLst>
              <a:ext uri="{FF2B5EF4-FFF2-40B4-BE49-F238E27FC236}">
                <a16:creationId xmlns:a16="http://schemas.microsoft.com/office/drawing/2014/main" id="{77E561F6-ECCB-B5E1-5B14-D9751218EDC8}"/>
              </a:ext>
            </a:extLst>
          </p:cNvPr>
          <p:cNvSpPr/>
          <p:nvPr/>
        </p:nvSpPr>
        <p:spPr>
          <a:xfrm>
            <a:off x="15337945" y="4344232"/>
            <a:ext cx="11452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Service</a:t>
            </a:r>
          </a:p>
        </p:txBody>
      </p:sp>
      <p:sp>
        <p:nvSpPr>
          <p:cNvPr id="177" name="Text 77">
            <a:extLst>
              <a:ext uri="{FF2B5EF4-FFF2-40B4-BE49-F238E27FC236}">
                <a16:creationId xmlns:a16="http://schemas.microsoft.com/office/drawing/2014/main" id="{884772CD-7088-6FCB-44E6-E74918760887}"/>
              </a:ext>
            </a:extLst>
          </p:cNvPr>
          <p:cNvSpPr/>
          <p:nvPr/>
        </p:nvSpPr>
        <p:spPr>
          <a:xfrm>
            <a:off x="15381435" y="4806036"/>
            <a:ext cx="11452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AGING STOCK</a:t>
            </a:r>
          </a:p>
        </p:txBody>
      </p:sp>
      <p:sp>
        <p:nvSpPr>
          <p:cNvPr id="178" name="Shape 76">
            <a:extLst>
              <a:ext uri="{FF2B5EF4-FFF2-40B4-BE49-F238E27FC236}">
                <a16:creationId xmlns:a16="http://schemas.microsoft.com/office/drawing/2014/main" id="{45FEEF2B-21DE-1D9E-88E4-606DA4587BEE}"/>
              </a:ext>
            </a:extLst>
          </p:cNvPr>
          <p:cNvSpPr/>
          <p:nvPr/>
        </p:nvSpPr>
        <p:spPr>
          <a:xfrm>
            <a:off x="15151162" y="5318725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A2A52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179" name="Text 77">
            <a:extLst>
              <a:ext uri="{FF2B5EF4-FFF2-40B4-BE49-F238E27FC236}">
                <a16:creationId xmlns:a16="http://schemas.microsoft.com/office/drawing/2014/main" id="{B69D3C25-6839-0230-D635-547656286A89}"/>
              </a:ext>
            </a:extLst>
          </p:cNvPr>
          <p:cNvSpPr/>
          <p:nvPr/>
        </p:nvSpPr>
        <p:spPr>
          <a:xfrm>
            <a:off x="15381435" y="5298112"/>
            <a:ext cx="114523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…..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D88E2F8-CE12-3656-2D5C-4E943C37F091}"/>
              </a:ext>
            </a:extLst>
          </p:cNvPr>
          <p:cNvSpPr txBox="1"/>
          <p:nvPr/>
        </p:nvSpPr>
        <p:spPr>
          <a:xfrm>
            <a:off x="17261210" y="1038656"/>
            <a:ext cx="3587110" cy="855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1. Daily Sales Dashboard</a:t>
            </a:r>
          </a:p>
          <a:p>
            <a:r>
              <a:rPr lang="en-US" sz="1100" dirty="0"/>
              <a:t>Top KPIs:</a:t>
            </a:r>
          </a:p>
          <a:p>
            <a:r>
              <a:rPr lang="en-US" sz="1100" dirty="0"/>
              <a:t>KPI	Today	MTD</a:t>
            </a:r>
          </a:p>
          <a:p>
            <a:r>
              <a:rPr lang="en-US" sz="1100" dirty="0"/>
              <a:t>Units Sold	8	125</a:t>
            </a:r>
          </a:p>
          <a:p>
            <a:r>
              <a:rPr lang="en-US" sz="1100" dirty="0"/>
              <a:t>Revenue	฿550,000	฿8,200,000</a:t>
            </a:r>
          </a:p>
          <a:p>
            <a:r>
              <a:rPr lang="en-US" sz="1100" dirty="0"/>
              <a:t>Gross Profit	฿62,000	฿980,000</a:t>
            </a:r>
          </a:p>
          <a:p>
            <a:r>
              <a:rPr lang="en-US" sz="1100" dirty="0"/>
              <a:t>Finance Deals	6	92</a:t>
            </a:r>
          </a:p>
          <a:p>
            <a:r>
              <a:rPr lang="en-US" sz="1100" dirty="0"/>
              <a:t>Cash Deals	2	33</a:t>
            </a:r>
          </a:p>
          <a:p>
            <a:r>
              <a:rPr lang="en-US" sz="1100" dirty="0"/>
              <a:t>This is what management looks at every morning.</a:t>
            </a:r>
          </a:p>
          <a:p>
            <a:endParaRPr lang="en-US" sz="1100" dirty="0"/>
          </a:p>
          <a:p>
            <a:r>
              <a:rPr lang="en-US" sz="1100" dirty="0"/>
              <a:t>2. Branch Comparison</a:t>
            </a:r>
          </a:p>
          <a:p>
            <a:r>
              <a:rPr lang="en-US" sz="1100" dirty="0"/>
              <a:t>Branch	Sales	Revenue	GP</a:t>
            </a:r>
          </a:p>
          <a:p>
            <a:r>
              <a:rPr lang="en-US" sz="1100" dirty="0" err="1"/>
              <a:t>Famai</a:t>
            </a:r>
            <a:r>
              <a:rPr lang="en-US" sz="1100" dirty="0"/>
              <a:t> Motor Group	42	฿3.2M</a:t>
            </a:r>
          </a:p>
          <a:p>
            <a:r>
              <a:rPr lang="en-US" sz="1100" dirty="0" err="1"/>
              <a:t>Famai</a:t>
            </a:r>
            <a:r>
              <a:rPr lang="en-US" sz="1100" dirty="0"/>
              <a:t> Motor	35	฿2.7M	฿310K</a:t>
            </a:r>
          </a:p>
          <a:p>
            <a:r>
              <a:rPr lang="en-US" sz="1100" dirty="0" err="1"/>
              <a:t>Famai</a:t>
            </a:r>
            <a:r>
              <a:rPr lang="en-US" sz="1100" dirty="0"/>
              <a:t> Center Group	48	฿3.6M	</a:t>
            </a:r>
          </a:p>
          <a:p>
            <a:r>
              <a:rPr lang="en-US" sz="1100" dirty="0"/>
              <a:t>Green = best branch</a:t>
            </a:r>
          </a:p>
          <a:p>
            <a:r>
              <a:rPr lang="en-US" sz="1100" dirty="0"/>
              <a:t>Red = lowest branch</a:t>
            </a:r>
          </a:p>
          <a:p>
            <a:endParaRPr lang="en-US" sz="1100" dirty="0"/>
          </a:p>
          <a:p>
            <a:r>
              <a:rPr lang="en-US" sz="1100" dirty="0"/>
              <a:t>3. Salesperson Ranking</a:t>
            </a:r>
          </a:p>
          <a:p>
            <a:r>
              <a:rPr lang="en-US" sz="1100" dirty="0"/>
              <a:t>Since you have multiple salespeople:</a:t>
            </a:r>
          </a:p>
          <a:p>
            <a:r>
              <a:rPr lang="en-US" sz="1100" dirty="0"/>
              <a:t>Salesperson	Units</a:t>
            </a:r>
          </a:p>
          <a:p>
            <a:r>
              <a:rPr lang="th-TH" sz="1100" dirty="0"/>
              <a:t>เซลล์สนุ๊กเกอร์	18</a:t>
            </a:r>
          </a:p>
          <a:p>
            <a:r>
              <a:rPr lang="th-TH" sz="1100" dirty="0"/>
              <a:t>เซลล์บิว	15</a:t>
            </a:r>
          </a:p>
          <a:p>
            <a:r>
              <a:rPr lang="th-TH" sz="1100" dirty="0"/>
              <a:t>เซลล์หมูแดง	12</a:t>
            </a:r>
          </a:p>
          <a:p>
            <a:r>
              <a:rPr lang="en-US" sz="1100" dirty="0"/>
              <a:t>Then:</a:t>
            </a:r>
          </a:p>
          <a:p>
            <a:r>
              <a:rPr lang="en-US" sz="1100" dirty="0"/>
              <a:t>Revenue</a:t>
            </a:r>
          </a:p>
          <a:p>
            <a:r>
              <a:rPr lang="en-US" sz="1100" dirty="0"/>
              <a:t>Profit</a:t>
            </a:r>
          </a:p>
          <a:p>
            <a:r>
              <a:rPr lang="en-US" sz="1100" dirty="0"/>
              <a:t>Finance approval rate</a:t>
            </a:r>
          </a:p>
          <a:p>
            <a:r>
              <a:rPr lang="en-US" sz="1100" dirty="0"/>
              <a:t>This becomes a leaderboard.</a:t>
            </a:r>
          </a:p>
          <a:p>
            <a:endParaRPr lang="en-US" sz="1100" dirty="0"/>
          </a:p>
          <a:p>
            <a:r>
              <a:rPr lang="en-US" sz="1100" dirty="0"/>
              <a:t>4. Registration Tracking</a:t>
            </a:r>
          </a:p>
          <a:p>
            <a:r>
              <a:rPr lang="en-US" sz="1100" dirty="0"/>
              <a:t>For motorcycle dealers this is huge.</a:t>
            </a:r>
          </a:p>
          <a:p>
            <a:r>
              <a:rPr lang="en-US" sz="1100" dirty="0"/>
              <a:t>Add status:</a:t>
            </a:r>
          </a:p>
          <a:p>
            <a:r>
              <a:rPr lang="th-TH" sz="1100" dirty="0"/>
              <a:t>ขายแล้ว</a:t>
            </a:r>
          </a:p>
          <a:p>
            <a:r>
              <a:rPr lang="th-TH" sz="1100" dirty="0"/>
              <a:t>↓</a:t>
            </a:r>
          </a:p>
          <a:p>
            <a:r>
              <a:rPr lang="th-TH" sz="1100" dirty="0"/>
              <a:t>ส่งไฟแนน</a:t>
            </a:r>
            <a:r>
              <a:rPr lang="th-TH" sz="1100" dirty="0" err="1"/>
              <a:t>ซ์</a:t>
            </a:r>
            <a:endParaRPr lang="th-TH" sz="1100" dirty="0"/>
          </a:p>
          <a:p>
            <a:r>
              <a:rPr lang="th-TH" sz="1100" dirty="0"/>
              <a:t>↓</a:t>
            </a:r>
          </a:p>
          <a:p>
            <a:r>
              <a:rPr lang="th-TH" sz="1100" dirty="0"/>
              <a:t>อนุมัติ</a:t>
            </a:r>
          </a:p>
          <a:p>
            <a:r>
              <a:rPr lang="th-TH" sz="1100" dirty="0"/>
              <a:t>↓</a:t>
            </a:r>
          </a:p>
          <a:p>
            <a:r>
              <a:rPr lang="th-TH" sz="1100" dirty="0"/>
              <a:t>รอทะเบียน</a:t>
            </a:r>
          </a:p>
          <a:p>
            <a:r>
              <a:rPr lang="th-TH" sz="1100" dirty="0"/>
              <a:t>↓</a:t>
            </a:r>
          </a:p>
          <a:p>
            <a:r>
              <a:rPr lang="th-TH" sz="1100" dirty="0"/>
              <a:t>ป้ายขาว</a:t>
            </a:r>
          </a:p>
          <a:p>
            <a:r>
              <a:rPr lang="th-TH" sz="1100" dirty="0"/>
              <a:t>↓</a:t>
            </a:r>
          </a:p>
          <a:p>
            <a:r>
              <a:rPr lang="th-TH" sz="1100" dirty="0"/>
              <a:t>ส่งมอบแล้ว</a:t>
            </a:r>
          </a:p>
          <a:p>
            <a:r>
              <a:rPr lang="en-US" sz="1100" dirty="0"/>
              <a:t>Dashboard:</a:t>
            </a:r>
          </a:p>
          <a:p>
            <a:r>
              <a:rPr lang="en-US" sz="1100" dirty="0"/>
              <a:t>Waiting Finance = 15</a:t>
            </a:r>
          </a:p>
          <a:p>
            <a:r>
              <a:rPr lang="en-US" sz="1100" dirty="0"/>
              <a:t>Waiting Registration = 23</a:t>
            </a:r>
          </a:p>
          <a:p>
            <a:r>
              <a:rPr lang="en-US" sz="1100" dirty="0"/>
              <a:t>Ready For Delivery = 7</a:t>
            </a:r>
          </a:p>
          <a:p>
            <a:r>
              <a:rPr lang="en-US" sz="1100" dirty="0"/>
              <a:t>This is usually the #1 thing managers ask.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14AF46D-8D14-C995-5037-BFE0DFCC78CD}"/>
              </a:ext>
            </a:extLst>
          </p:cNvPr>
          <p:cNvSpPr txBox="1"/>
          <p:nvPr/>
        </p:nvSpPr>
        <p:spPr>
          <a:xfrm>
            <a:off x="20566882" y="996697"/>
            <a:ext cx="2743200" cy="1465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5. Aging Stock Report</a:t>
            </a:r>
          </a:p>
          <a:p>
            <a:r>
              <a:rPr lang="en-US" sz="1100" dirty="0"/>
              <a:t>Very important.</a:t>
            </a:r>
          </a:p>
          <a:p>
            <a:r>
              <a:rPr lang="en-US" sz="1100" dirty="0"/>
              <a:t>0-30 days</a:t>
            </a:r>
          </a:p>
          <a:p>
            <a:r>
              <a:rPr lang="en-US" sz="1100" dirty="0"/>
              <a:t>31-60 days</a:t>
            </a:r>
          </a:p>
          <a:p>
            <a:r>
              <a:rPr lang="en-US" sz="1100" dirty="0"/>
              <a:t>61-90 days</a:t>
            </a:r>
          </a:p>
          <a:p>
            <a:r>
              <a:rPr lang="en-US" sz="1100" dirty="0"/>
              <a:t>90+ days</a:t>
            </a:r>
          </a:p>
          <a:p>
            <a:r>
              <a:rPr lang="en-US" sz="1100" dirty="0"/>
              <a:t>Example:</a:t>
            </a:r>
          </a:p>
          <a:p>
            <a:r>
              <a:rPr lang="en-US" sz="1100" dirty="0"/>
              <a:t>Model	Qty	Days</a:t>
            </a:r>
          </a:p>
          <a:p>
            <a:r>
              <a:rPr lang="en-US" sz="1100" dirty="0"/>
              <a:t>PG-1	4	105</a:t>
            </a:r>
          </a:p>
          <a:p>
            <a:r>
              <a:rPr lang="en-US" sz="1100" dirty="0"/>
              <a:t>FINN	7	89</a:t>
            </a:r>
          </a:p>
          <a:p>
            <a:r>
              <a:rPr lang="en-US" sz="1100" dirty="0"/>
              <a:t>NMAX	1	12</a:t>
            </a:r>
          </a:p>
          <a:p>
            <a:r>
              <a:rPr lang="en-US" sz="1100" dirty="0"/>
              <a:t>Now you know which models need promotion.</a:t>
            </a:r>
          </a:p>
          <a:p>
            <a:endParaRPr lang="en-US" sz="1100" dirty="0"/>
          </a:p>
          <a:p>
            <a:r>
              <a:rPr lang="en-US" sz="1100" dirty="0"/>
              <a:t>6. Customer Database</a:t>
            </a:r>
          </a:p>
          <a:p>
            <a:r>
              <a:rPr lang="en-US" sz="1100" dirty="0"/>
              <a:t>Search by:</a:t>
            </a:r>
          </a:p>
          <a:p>
            <a:r>
              <a:rPr lang="en-US" sz="1100" dirty="0"/>
              <a:t>Phone number</a:t>
            </a:r>
          </a:p>
          <a:p>
            <a:r>
              <a:rPr lang="en-US" sz="1100" dirty="0"/>
              <a:t>Name</a:t>
            </a:r>
          </a:p>
          <a:p>
            <a:r>
              <a:rPr lang="en-US" sz="1100" dirty="0"/>
              <a:t>Engine number</a:t>
            </a:r>
          </a:p>
          <a:p>
            <a:r>
              <a:rPr lang="en-US" sz="1100" dirty="0"/>
              <a:t>Frame number</a:t>
            </a:r>
          </a:p>
          <a:p>
            <a:r>
              <a:rPr lang="en-US" sz="1100" dirty="0"/>
              <a:t>Then show:</a:t>
            </a:r>
          </a:p>
          <a:p>
            <a:r>
              <a:rPr lang="en-US" sz="1100" dirty="0"/>
              <a:t>Customer History</a:t>
            </a:r>
          </a:p>
          <a:p>
            <a:endParaRPr lang="en-US" sz="1100" dirty="0"/>
          </a:p>
          <a:p>
            <a:r>
              <a:rPr lang="en-US" sz="1100" dirty="0"/>
              <a:t>Bought:</a:t>
            </a:r>
          </a:p>
          <a:p>
            <a:r>
              <a:rPr lang="en-US" sz="1100" dirty="0"/>
              <a:t>NMAX 2025</a:t>
            </a:r>
          </a:p>
          <a:p>
            <a:endParaRPr lang="en-US" sz="1100" dirty="0"/>
          </a:p>
          <a:p>
            <a:r>
              <a:rPr lang="en-US" sz="1100" dirty="0"/>
              <a:t>Purchase Date:</a:t>
            </a:r>
          </a:p>
          <a:p>
            <a:r>
              <a:rPr lang="en-US" sz="1100" dirty="0"/>
              <a:t>12 Jan 2026</a:t>
            </a:r>
          </a:p>
          <a:p>
            <a:endParaRPr lang="en-US" sz="1100" dirty="0"/>
          </a:p>
          <a:p>
            <a:r>
              <a:rPr lang="en-US" sz="1100" dirty="0"/>
              <a:t>Salesperson:</a:t>
            </a:r>
          </a:p>
          <a:p>
            <a:r>
              <a:rPr lang="th-TH" sz="1100" dirty="0"/>
              <a:t>เซลล์สนุ๊กเกอร์</a:t>
            </a:r>
          </a:p>
          <a:p>
            <a:endParaRPr lang="th-TH" sz="1100" dirty="0"/>
          </a:p>
          <a:p>
            <a:r>
              <a:rPr lang="en-US" sz="1100" dirty="0"/>
              <a:t>Service Visits:</a:t>
            </a:r>
          </a:p>
          <a:p>
            <a:r>
              <a:rPr lang="en-US" sz="1100" dirty="0"/>
              <a:t>3</a:t>
            </a:r>
          </a:p>
          <a:p>
            <a:r>
              <a:rPr lang="en-US" sz="1100" dirty="0"/>
              <a:t>Service Reminder</a:t>
            </a:r>
          </a:p>
          <a:p>
            <a:r>
              <a:rPr lang="en-US" sz="1100" dirty="0"/>
              <a:t>After selling:</a:t>
            </a:r>
          </a:p>
          <a:p>
            <a:r>
              <a:rPr lang="en-US" sz="1100" dirty="0"/>
              <a:t>500 km</a:t>
            </a:r>
          </a:p>
          <a:p>
            <a:r>
              <a:rPr lang="en-US" sz="1100" dirty="0"/>
              <a:t>1,000 km</a:t>
            </a:r>
          </a:p>
          <a:p>
            <a:r>
              <a:rPr lang="en-US" sz="1100" dirty="0"/>
              <a:t>4,000 km</a:t>
            </a:r>
          </a:p>
          <a:p>
            <a:r>
              <a:rPr lang="en-US" sz="1100" dirty="0"/>
              <a:t>8,000 km</a:t>
            </a:r>
          </a:p>
          <a:p>
            <a:r>
              <a:rPr lang="en-US" sz="1100" dirty="0"/>
              <a:t>Generate LINE broadcast list.</a:t>
            </a:r>
          </a:p>
          <a:p>
            <a:r>
              <a:rPr lang="en-US" sz="1100" dirty="0"/>
              <a:t>Huge for retention.</a:t>
            </a:r>
          </a:p>
          <a:p>
            <a:endParaRPr lang="en-US" sz="1100" dirty="0"/>
          </a:p>
          <a:p>
            <a:r>
              <a:rPr lang="en-US" sz="1100" dirty="0"/>
              <a:t>7. Finance Dashboard</a:t>
            </a:r>
          </a:p>
          <a:p>
            <a:r>
              <a:rPr lang="en-US" sz="1100" dirty="0"/>
              <a:t>Track:</a:t>
            </a:r>
          </a:p>
          <a:p>
            <a:r>
              <a:rPr lang="th-TH" sz="1100" dirty="0"/>
              <a:t>กรุงศรี</a:t>
            </a:r>
          </a:p>
          <a:p>
            <a:r>
              <a:rPr lang="th-TH" sz="1100" dirty="0"/>
              <a:t>ธนชา</a:t>
            </a:r>
            <a:r>
              <a:rPr lang="th-TH" sz="1100" dirty="0" err="1"/>
              <a:t>ต</a:t>
            </a:r>
            <a:endParaRPr lang="th-TH" sz="1100" dirty="0"/>
          </a:p>
          <a:p>
            <a:r>
              <a:rPr lang="th-TH" sz="1100" dirty="0"/>
              <a:t>ทิสโก้</a:t>
            </a:r>
          </a:p>
          <a:p>
            <a:r>
              <a:rPr lang="th-TH" sz="1100" dirty="0"/>
              <a:t>อื่นๆ</a:t>
            </a:r>
          </a:p>
          <a:p>
            <a:r>
              <a:rPr lang="en-US" sz="1100" dirty="0"/>
              <a:t>Show:</a:t>
            </a:r>
          </a:p>
          <a:p>
            <a:r>
              <a:rPr lang="en-US" sz="1100" dirty="0"/>
              <a:t>Applications</a:t>
            </a:r>
          </a:p>
          <a:p>
            <a:r>
              <a:rPr lang="en-US" sz="1100" dirty="0"/>
              <a:t>Approved</a:t>
            </a:r>
          </a:p>
          <a:p>
            <a:r>
              <a:rPr lang="en-US" sz="1100" dirty="0"/>
              <a:t>Rejected</a:t>
            </a:r>
          </a:p>
          <a:p>
            <a:r>
              <a:rPr lang="en-US" sz="1100" dirty="0"/>
              <a:t>Pending</a:t>
            </a:r>
          </a:p>
          <a:p>
            <a:r>
              <a:rPr lang="en-US" sz="1100" dirty="0"/>
              <a:t>Approval Rate</a:t>
            </a:r>
          </a:p>
          <a:p>
            <a:endParaRPr lang="en-US" sz="1100" dirty="0"/>
          </a:p>
          <a:p>
            <a:r>
              <a:rPr lang="en-US" sz="1100" dirty="0"/>
              <a:t>8. Today's Snapshot</a:t>
            </a:r>
          </a:p>
          <a:p>
            <a:r>
              <a:rPr lang="en-US" sz="1100" dirty="0"/>
              <a:t>Sales Today</a:t>
            </a:r>
          </a:p>
          <a:p>
            <a:r>
              <a:rPr lang="en-US" sz="1100" dirty="0"/>
              <a:t>฿550,000</a:t>
            </a:r>
          </a:p>
          <a:p>
            <a:endParaRPr lang="en-US" sz="1100" dirty="0"/>
          </a:p>
          <a:p>
            <a:r>
              <a:rPr lang="en-US" sz="1100" dirty="0"/>
              <a:t>Gross Profit</a:t>
            </a:r>
          </a:p>
          <a:p>
            <a:r>
              <a:rPr lang="en-US" sz="1100" dirty="0"/>
              <a:t>฿62,000</a:t>
            </a:r>
          </a:p>
          <a:p>
            <a:endParaRPr lang="en-US" sz="1100" dirty="0"/>
          </a:p>
          <a:p>
            <a:r>
              <a:rPr lang="en-US" sz="1100" dirty="0"/>
              <a:t>Expenses</a:t>
            </a:r>
          </a:p>
          <a:p>
            <a:r>
              <a:rPr lang="en-US" sz="1100" dirty="0"/>
              <a:t>฿7,500</a:t>
            </a:r>
          </a:p>
          <a:p>
            <a:endParaRPr lang="en-US" sz="1100" dirty="0"/>
          </a:p>
          <a:p>
            <a:r>
              <a:rPr lang="en-US" sz="1100" dirty="0"/>
              <a:t>Net Profit</a:t>
            </a:r>
          </a:p>
          <a:p>
            <a:r>
              <a:rPr lang="en-US" sz="1100" dirty="0"/>
              <a:t>฿54,500</a:t>
            </a:r>
          </a:p>
          <a:p>
            <a:endParaRPr lang="en-US" sz="1100" dirty="0"/>
          </a:p>
          <a:p>
            <a:r>
              <a:rPr lang="en-US" sz="1100" dirty="0"/>
              <a:t>9. Sales by Branch</a:t>
            </a:r>
          </a:p>
          <a:p>
            <a:r>
              <a:rPr lang="en-US" sz="1100" dirty="0"/>
              <a:t>Bar chart</a:t>
            </a:r>
          </a:p>
          <a:p>
            <a:r>
              <a:rPr lang="en-US" sz="1100" dirty="0" err="1"/>
              <a:t>Famai</a:t>
            </a:r>
            <a:r>
              <a:rPr lang="en-US" sz="1100" dirty="0"/>
              <a:t> Motor Group</a:t>
            </a:r>
          </a:p>
          <a:p>
            <a:r>
              <a:rPr lang="en-US" sz="1100" dirty="0"/>
              <a:t>██████████</a:t>
            </a:r>
          </a:p>
          <a:p>
            <a:endParaRPr lang="en-US" sz="1100" dirty="0"/>
          </a:p>
          <a:p>
            <a:r>
              <a:rPr lang="en-US" sz="1100" dirty="0" err="1"/>
              <a:t>Famai</a:t>
            </a:r>
            <a:r>
              <a:rPr lang="en-US" sz="1100" dirty="0"/>
              <a:t> Motor</a:t>
            </a:r>
          </a:p>
          <a:p>
            <a:r>
              <a:rPr lang="en-US" sz="1100" dirty="0"/>
              <a:t>███████</a:t>
            </a:r>
          </a:p>
          <a:p>
            <a:endParaRPr lang="en-US" sz="1100" dirty="0"/>
          </a:p>
          <a:p>
            <a:r>
              <a:rPr lang="en-US" sz="1100" dirty="0" err="1"/>
              <a:t>Famai</a:t>
            </a:r>
            <a:r>
              <a:rPr lang="en-US" sz="1100" dirty="0"/>
              <a:t> Center Group</a:t>
            </a:r>
          </a:p>
          <a:p>
            <a:r>
              <a:rPr lang="en-US" sz="1100" dirty="0"/>
              <a:t>████████████</a:t>
            </a:r>
          </a:p>
          <a:p>
            <a:endParaRPr lang="en-US" sz="1100" dirty="0"/>
          </a:p>
          <a:p>
            <a:r>
              <a:rPr lang="en-US" sz="1100" dirty="0"/>
              <a:t>10. Top Models</a:t>
            </a:r>
          </a:p>
          <a:p>
            <a:r>
              <a:rPr lang="en-US" sz="1100" dirty="0"/>
              <a:t>1. FINN</a:t>
            </a:r>
          </a:p>
          <a:p>
            <a:r>
              <a:rPr lang="en-US" sz="1100" dirty="0"/>
              <a:t>2. PG-1</a:t>
            </a:r>
          </a:p>
          <a:p>
            <a:r>
              <a:rPr lang="en-US" sz="1100" dirty="0"/>
              <a:t>3. NMAX</a:t>
            </a:r>
          </a:p>
          <a:p>
            <a:r>
              <a:rPr lang="en-US" sz="1100" dirty="0"/>
              <a:t>4. Grand </a:t>
            </a:r>
            <a:r>
              <a:rPr lang="en-US" sz="1100" dirty="0" err="1"/>
              <a:t>Filano</a:t>
            </a:r>
            <a:endParaRPr lang="en-US" sz="1100" dirty="0"/>
          </a:p>
          <a:p>
            <a:r>
              <a:rPr lang="en-US" sz="1100" dirty="0"/>
              <a:t>5. Fazzio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AFFBB23-5ED3-744D-8392-696631D3238C}"/>
              </a:ext>
            </a:extLst>
          </p:cNvPr>
          <p:cNvSpPr txBox="1"/>
          <p:nvPr/>
        </p:nvSpPr>
        <p:spPr>
          <a:xfrm>
            <a:off x="21995892" y="785485"/>
            <a:ext cx="1554481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50" dirty="0"/>
              <a:t>Stock Alert</a:t>
            </a:r>
          </a:p>
          <a:p>
            <a:r>
              <a:rPr lang="en-US" sz="1050" dirty="0"/>
              <a:t>⚠ PG-1 : 2 left</a:t>
            </a:r>
          </a:p>
          <a:p>
            <a:r>
              <a:rPr lang="en-US" sz="1050" dirty="0"/>
              <a:t>⚠ NMAX : 1 left</a:t>
            </a:r>
          </a:p>
          <a:p>
            <a:r>
              <a:rPr lang="en-US" sz="1050" dirty="0"/>
              <a:t>⚠ XMAX : 0 left</a:t>
            </a:r>
          </a:p>
          <a:p>
            <a:r>
              <a:rPr lang="en-US" sz="1050" dirty="0"/>
              <a:t>Pending Registrations</a:t>
            </a:r>
          </a:p>
          <a:p>
            <a:r>
              <a:rPr lang="en-US" sz="1050" dirty="0"/>
              <a:t>12 waiting</a:t>
            </a:r>
          </a:p>
          <a:p>
            <a:r>
              <a:rPr lang="en-US" sz="1050" dirty="0"/>
              <a:t>Finance Pending</a:t>
            </a:r>
          </a:p>
          <a:p>
            <a:r>
              <a:rPr lang="en-US" sz="1050" dirty="0"/>
              <a:t>8 waiting</a:t>
            </a:r>
            <a:endParaRPr lang="en-TH" sz="2800" dirty="0"/>
          </a:p>
        </p:txBody>
      </p:sp>
      <p:sp>
        <p:nvSpPr>
          <p:cNvPr id="189" name="Text 75">
            <a:extLst>
              <a:ext uri="{FF2B5EF4-FFF2-40B4-BE49-F238E27FC236}">
                <a16:creationId xmlns:a16="http://schemas.microsoft.com/office/drawing/2014/main" id="{5DD5EDC8-791C-2297-EA8A-ED2CBC220291}"/>
              </a:ext>
            </a:extLst>
          </p:cNvPr>
          <p:cNvSpPr/>
          <p:nvPr/>
        </p:nvSpPr>
        <p:spPr>
          <a:xfrm>
            <a:off x="17499254" y="615021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90" name="Text 75">
            <a:extLst>
              <a:ext uri="{FF2B5EF4-FFF2-40B4-BE49-F238E27FC236}">
                <a16:creationId xmlns:a16="http://schemas.microsoft.com/office/drawing/2014/main" id="{C9B8C42A-D504-9CCD-84EE-D1D7AE07F88B}"/>
              </a:ext>
            </a:extLst>
          </p:cNvPr>
          <p:cNvSpPr/>
          <p:nvPr/>
        </p:nvSpPr>
        <p:spPr>
          <a:xfrm>
            <a:off x="21428866" y="411481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A2A52"/>
                </a:solidFill>
                <a:latin typeface="Loma" pitchFamily="34" charset="0"/>
                <a:ea typeface="Loma" pitchFamily="34" charset="-122"/>
                <a:cs typeface="Loma" pitchFamily="34" charset="-120"/>
              </a:rPr>
              <a:t>Dashboard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913</Words>
  <Application>Microsoft Macintosh PowerPoint</Application>
  <PresentationFormat>Custom</PresentationFormat>
  <Paragraphs>266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Loma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Natchapa Aunkay</cp:lastModifiedBy>
  <cp:revision>2</cp:revision>
  <dcterms:created xsi:type="dcterms:W3CDTF">2026-07-21T12:49:56Z</dcterms:created>
  <dcterms:modified xsi:type="dcterms:W3CDTF">2026-07-24T04:41:25Z</dcterms:modified>
</cp:coreProperties>
</file>